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国证价值100是否值得长期持有？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深度研究结论版 · 20页 · 完整证据、计算与来源见HTML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执行2026-10-05｜中国行情2026-09-30｜不是个人仓位建议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789920" cy="1188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3600" b="1">
                <a:solidFill>
                  <a:srgbClr val="087E8B"/>
                </a:solidFill>
                <a:latin typeface="Noto Sans CJK SC"/>
              </a:defRPr>
            </a:pPr>
            <a:r>
              <a:t>有条件值得关注，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3600" b="1">
                <a:solidFill>
                  <a:srgbClr val="087E8B"/>
                </a:solidFill>
                <a:latin typeface="Noto Sans CJK SC"/>
              </a:defRPr>
            </a:pPr>
            <a:r>
              <a:t>当前安全边际尚未证明。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07040" cy="1508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300" b="0">
                <a:solidFill>
                  <a:srgbClr val="17384B"/>
                </a:solidFill>
                <a:latin typeface="Noto Sans CJK SC"/>
              </a:defRPr>
            </a:pPr>
            <a:r>
              <a:t>现金分红与低价盈利提供经济基础；盈利衰退与集中风险可能抵销低估值。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2300" b="0">
                <a:solidFill>
                  <a:srgbClr val="17384B"/>
                </a:solidFill>
                <a:latin typeface="Noto Sans CJK SC"/>
              </a:defRPr>
            </a:pPr>
            <a:r>
              <a:t>现行版本观察不足两年，最老ETF约15个月，不能把13.75年曲线当作现行实绩。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六个问题，先给明确答案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结论分开：机制、证据、价格和目标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国证价值100（980081）｜研究执行2026-10-05；国内行情/权重2026-09-30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长期价值：有条件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4086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跨周期现金盈利兑现、成本可控，且能承受多年机会成本。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5623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当前买入：证据不足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4086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PE TTM 8.35倍较低；正常化利润、分红覆盖与所需回报仍要核验。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赚钱 / 亏损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0682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赚现金与盈利、可能的重估；亏利润永久下降、派息削减和风格失宠。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2219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独特优势：未证明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0682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组合设计有特色；剥离行业/价值/现金流后的alpha尚无证据。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身份与三条时间线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官方发布日期字段≠今天规则已经实盘运行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S01/S02/S03/S05/S10/S11｜版本档案缺口会实质改变长期判断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5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5029200"/>
              </a:tblGrid>
              <a:tr h="8686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时间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事实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能证明什么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2012-12-28 / 12-31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官网发布日期字段 / 指数基日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原始版本与重编回溯链未取得；不能视为现行13.75年实绩。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2024-10-29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样本展示及完整OHLC起点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选作保守现行观察边界；不是已核验正式发布日。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2025-06-30 / 07-08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最老ETF成立 / 上市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才有真实基金投资表现，约15个月。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57784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53697B"/>
                </a:solidFill>
                <a:latin typeface="Noto Sans CJK SC"/>
              </a:defRPr>
            </a:pPr>
            <a:r>
              <a:t>排除错误旧版本线索：CN6027官方文件是西藏综合指数。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现行规则：价值＋历史质量，仍有定义缺口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选样与权重不是等权100家优质公司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S01｜ROE稳定不保证未来利润稳定；自由现金流率/倾斜因子未完整定义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先剔除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4086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规模/流动性后20%、亏损；ROE均值后20%、波动前20%、FCF率后50%。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5623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再选100只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4086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非金融：E/P＋股息率＋FCF率；金融/地产只用前两项。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0682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价值得分倾斜×自由流通市值；调仓时单股8%、二级行业20%上限。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2219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每季调整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0682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更换只数≤50%，不是资金换手≤50%；随后权重可漂移。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收益机制：什么是价值创造，什么是风险补偿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不把分红、回购、EPS增长和FCF重复相加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S01/S39；研究判断｜没有成分/财务/除数链，不做精确盈利与调仓归因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663440"/>
              </a:tblGrid>
              <a:tr h="84124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来源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机制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边界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盈利/现金增长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资本回报超过成本，支持每股现金增长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EPS已含净回购/稀释；不再加回购收益率。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现金分红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企业现金向股东转移，再投参与复利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除息抵减价格；不是额外免费收益。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估值与再平衡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买入低价、重估或维持价值暴露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重估依赖市场；调仓可能产生摩擦或错失趋势。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行业/风格风险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价值、金融、周期等风险补偿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历史高收益不能直接认定独立alpha。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现金股息是可观测的贡献，非未来票息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全收益与价格增长倍数之比，再几何年化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S05/S06；自行计算｜分红增益不是当前官方股息率；不能直接相加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9248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区间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价格年化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全收益年化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分红再投几何增益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历史混合序列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11.40%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16.46%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4.54%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2024-10-29后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6.80%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11.83%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4.70%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75488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300" b="0">
                <a:solidFill>
                  <a:srgbClr val="17384B"/>
                </a:solidFill>
                <a:latin typeface="Noto Sans CJK SC"/>
              </a:defRPr>
            </a:pPr>
            <a:r>
              <a:t>(1+全收益年化) = (1+价格年化) × (1+股息几何增益)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2300" b="0">
                <a:solidFill>
                  <a:srgbClr val="17384B"/>
                </a:solidFill>
                <a:latin typeface="Noto Sans CJK SC"/>
              </a:defRPr>
            </a:pPr>
            <a:r>
              <a:t>分红覆盖和每股盈利比历史派息数字更重要。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历史混合序列表现好，不能当作冻结规则实绩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相同人民币全收益；2012-12-31—2026-09-30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S06/S07/S19；自行计算｜灰区含回溯/无法复原版本；未扣基金费用和税费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7</a:t>
            </a:r>
          </a:p>
        </p:txBody>
      </p:sp>
      <p:pic>
        <p:nvPicPr>
          <p:cNvPr id="8" name="Picture 7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38" y="1691640"/>
            <a:ext cx="822116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现行观察不足两年：强于300，但不是最低回撤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2024-10-29—2026-09-30，相同人民币全收益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S06/S07/S19；自行计算｜价值100累计23.93%、MDD−15.80%；没有现行3/5/10年实绩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8</a:t>
            </a:r>
          </a:p>
        </p:txBody>
      </p:sp>
      <p:pic>
        <p:nvPicPr>
          <p:cNvPr id="8" name="Picture 7" descr="re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57" y="1691640"/>
            <a:ext cx="921288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滚动持有：零亏损历史窗口不是未来概率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月末窗口高度重叠；全部来自历史混合序列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S06/S07；自行计算｜106个5年窗口约2个不重叠块，46个10年约1个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69494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持有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窗口数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最差累计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中位年化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亏损窗口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胜300窗口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1年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154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-24.48%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17.08%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12.99%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75.97%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3年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130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-0.72%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16.61%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0.77%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84.62%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5年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106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27.59%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15.64%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100.00%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10年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46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188.80%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16.81%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100.00%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700" b="0">
                <a:solidFill>
                  <a:srgbClr val="53697B"/>
                </a:solidFill>
                <a:latin typeface="Noto Sans CJK SC"/>
              </a:defRPr>
            </a:pPr>
            <a:r>
              <a:t>2018-01末至2021-01末：价值100仍亏约0.72%，沪深300约赚33.64%。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亏损之后，恢复需要时间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每日收盘毛全收益，2013起序列不包括2008系统性危机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S06/S07；自行计算｜2015高点恢复728天；2018高点恢复888天；2026峰值尚未恢复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8" name="Picture 7" descr="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78" y="1645920"/>
            <a:ext cx="9941962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74243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700" b="0">
                <a:solidFill>
                  <a:srgbClr val="53697B"/>
                </a:solidFill>
                <a:latin typeface="Noto Sans CJK SC"/>
              </a:defRPr>
            </a:pPr>
            <a:r>
              <a:t>永久利润损失、信用恶化、现金分红失去覆盖，不能靠“等情绪变好”解决。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绝对赚钱，也可能有很高机会成本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相对资产比的峰谷与恢复，不是两个收益率百分点差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S06/S07/S19；自行计算｜含历史混合/对照回溯，不能预设未来恢复期限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8" name="Picture 7" descr="re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40" y="1645920"/>
            <a:ext cx="8802119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700" b="0">
                <a:solidFill>
                  <a:srgbClr val="53697B"/>
                </a:solidFill>
                <a:latin typeface="Noto Sans CJK SC"/>
              </a:defRPr>
            </a:pPr>
            <a:r>
              <a:t>相对红利质量恢复曾需3539天；相对自由现金流截至9月末仍未恢复。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长期有效性：机制合理，独特alpha未验证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需要同池、同成本、公告后数据和冻结规则的样本外对照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国证价值100（980081）｜研究执行2026-10-05；国内行情/权重2026-09-30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已有支持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4086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现金机制合理；长期混合曲线有支持；近期观察和真实ETF提供初步证据。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5623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偏差风险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4086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规则自由度、回溯优化、版本更新、历史成分缺失、前视与幸存者问题。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简单对照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0682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纯E/P→加股息→加FCF→加质量→行业上限→价值倾斜，逐项检验增量。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2219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最大未知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0682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利润/现金与调仓的精确贡献、普通价值/行业风险控制后的净alpha。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国内替代：选择不同的经济约束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不是只按过去收益选冠军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S15/S16/S17/S18/S19/S38｜完整12个对象与日期见HTML可筛选表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7010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对象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优先研究的需求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相对价值100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300价值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简洁大盘价值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质量筛选较少，复杂规则增量未证明。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红利 / 红利低波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高股息或历史低波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不保证低风险；目标并非回撤最小。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红利质量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愿为盈利质量付更高价格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估值17.47倍，可能有成长/重估风险。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自由现金流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不想承担银行会计与信贷风险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排除金融，FCF/EV；持仓/收益仍部分重合。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300 / 全指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市场广覆盖、减轻风格押注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核心研究更直接；仍有系统性风险。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海外对照：价值可长期落后宽基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美元ETF同区间、同净值再投；人民币折算另列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S25/S26/S29/S30；2016-06-30—2026-06-30；未扣个人税/渠道，不与国内毛收益排名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14</a:t>
            </a:r>
          </a:p>
        </p:txBody>
      </p:sp>
      <p:pic>
        <p:nvPicPr>
          <p:cNvPr id="8" name="Picture 7" descr="overseas_f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841" y="1691640"/>
            <a:ext cx="8739756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700" b="0">
                <a:solidFill>
                  <a:srgbClr val="53697B"/>
                </a:solidFill>
                <a:latin typeface="Noto Sans CJK SC"/>
              </a:defRPr>
            </a:pPr>
            <a:r>
              <a:t>MSCI Value也曾2007—2009实绩回撤61.22%；便宜不是危机免疫。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当前组合：低PE，集中并不低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2026-09-30：PE TTM 8.3532×；PB 0.65×；前十大47.65%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S03/S04｜一级可选消费35%不违反二级行业20%上限；有效等权数约30.47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15</a:t>
            </a:r>
          </a:p>
        </p:txBody>
      </p:sp>
      <p:pic>
        <p:nvPicPr>
          <p:cNvPr id="8" name="Picture 7" descr="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357" y="1691640"/>
            <a:ext cx="7738564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92640" y="2103120"/>
            <a:ext cx="182880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53697B"/>
                </a:solidFill>
                <a:latin typeface="Noto Sans CJK SC"/>
              </a:defRPr>
            </a:pPr>
            <a:r>
              <a:t>前三大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651760"/>
            <a:ext cx="1828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900" b="1">
                <a:solidFill>
                  <a:srgbClr val="087E8B"/>
                </a:solidFill>
                <a:latin typeface="Noto Sans CJK SC"/>
              </a:defRPr>
            </a:pPr>
            <a:r>
              <a:t>22.76%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3749039"/>
            <a:ext cx="1828800" cy="1645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格力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海信家电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兴业银行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最新报表反证：历史质量有滞后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财务2026-06-30，权重2026-09-30；只覆盖32.08%，不作全指数归因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S31/S32/S33/S34/S35/S36｜OCF合并口径；半年度季节性；兴业同比依据法定摘要检索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010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公司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权重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归母利润同比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经营现金流同比 / 风险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格力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7.96%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−7.87%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−33.60%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海信家电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7.77%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−20.16%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−39.21%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老板电器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4.35%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−18.75%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现金转负至−3.62亿元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上汽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4.97%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−14.38%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+158.13%；包含财务公司金融资产配置影响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兴业银行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7.03%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约−4.66%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银行不使用一般FCF；NIM1.60%、不良1.08%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情景：低估值也可能十年仍亏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假设：悲观g−2%/p30%/PE6；基准2%/40%/8；乐观5%/45%/10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情景假设；初始PE8.3532，仅扣0.20%年费；增长、派息、PE均不是预测或概率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17</a:t>
            </a:r>
          </a:p>
        </p:txBody>
      </p:sp>
      <p:pic>
        <p:nvPicPr>
          <p:cNvPr id="8" name="Picture 7" descr="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158" y="1737360"/>
            <a:ext cx="8627923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742432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53697B"/>
                </a:solidFill>
                <a:latin typeface="Noto Sans CJK SC"/>
              </a:defRPr>
            </a:pPr>
            <a:r>
              <a:t>利润下降40%时正常化PE约13.92倍；基准10年6.33%不等于足够风险补偿。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真实ETF净值：低年费不等于无摩擦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159263：管理0.15%＋托管0.05%；成立至2026-09-30同收盘基准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S05/S06/S09/S10/S11/S13｜净值13.34% vs 毛全收益16.71%；差3.37pp不能只归年费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18</a:t>
            </a:r>
          </a:p>
        </p:txBody>
      </p:sp>
      <p:pic>
        <p:nvPicPr>
          <p:cNvPr id="8" name="Picture 7" descr="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21" y="1737360"/>
            <a:ext cx="9671957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买入路径与配置：现金有机会成本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同一初始本金、现金假设1.5%；5年106个重叠历史混合窗口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S06/S19/S37/S38；自行计算｜分批不必更优；没有ETF五年实际历史；不提供个人仓位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9436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路径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五年累计中位数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超过一次买入比例</a:t>
                      </a:r>
                    </a:p>
                  </a:txBody>
                  <a:tcPr marL="109728" marT="73152" marB="36576" anchor="t">
                    <a:solidFill>
                      <a:srgbClr val="1738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一次买入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106.80%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基准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4次季度分批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92.28%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32.08%</a:t>
                      </a:r>
                    </a:p>
                  </a:txBody>
                  <a:tcPr marL="109728" marT="73152" marB="36576" anchor="t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12个月定投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91.45%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7384B"/>
                          </a:solidFill>
                          <a:latin typeface="Noto Sans CJK SC"/>
                        </a:defRPr>
                      </a:pPr>
                      <a:r>
                        <a:t>29.25%</a:t>
                      </a:r>
                    </a:p>
                  </a:txBody>
                  <a:tcPr marL="109728" marT="73152" marB="36576" anchor="t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617720"/>
            <a:ext cx="10515600" cy="12801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000" b="0">
                <a:solidFill>
                  <a:srgbClr val="17384B"/>
                </a:solidFill>
                <a:latin typeface="Noto Sans CJK SC"/>
              </a:defRPr>
            </a:pPr>
            <a:r>
              <a:t>与300：29只重合，覆盖价值100一侧61.46%权重。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2000" b="0">
                <a:solidFill>
                  <a:srgbClr val="17384B"/>
                </a:solidFill>
                <a:latin typeface="Noto Sans CJK SC"/>
              </a:defRPr>
            </a:pPr>
            <a:r>
              <a:t>与FCF：40只，权重重合36.47%，收益相关高；与成长0同名不等于对冲。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2800" b="1">
                <a:solidFill>
                  <a:srgbClr val="17384B"/>
                </a:solidFill>
                <a:latin typeface="Noto Sans CJK SC"/>
              </a:defRPr>
            </a:pPr>
            <a:r>
              <a:t>必要条件与可推翻证据：长期持有不能免于复核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400" b="0">
                <a:solidFill>
                  <a:srgbClr val="53697B"/>
                </a:solidFill>
                <a:latin typeface="Noto Sans CJK SC"/>
              </a:defRPr>
            </a:pPr>
            <a:r>
              <a:t>策略值得关注与当前买入吸引力分别结论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1097280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国证价值100（980081）｜研究执行2026-10-05；国内行情/权重2026-09-30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000" b="0">
                <a:solidFill>
                  <a:srgbClr val="53697B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必要条件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4086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利润与股东现金跨周期兑现、派息不靠债、价格补偿充分、规则和成本可靠。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5623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重评信号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4086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盈利与现金共同萎缩、银行信用成本上升、分红覆盖恶化、交易/税费差距扩大。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推翻逻辑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0682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永久现金创造下降；财务/治理失真；实盘剥离风格后无增量且成本较高。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349240" cy="1773936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22191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87E8B"/>
                </a:solidFill>
                <a:latin typeface="Noto Sans CJK SC"/>
              </a:defRPr>
            </a:pPr>
            <a:r>
              <a:t>下一步证据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06824"/>
            <a:ext cx="4983480" cy="1033271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保存每季完整权重；补旧规则/修订公告；跟踪现金覆盖、资本开支与净回报。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